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94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Data Engineering Capstone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guided lab to a real, role-based, end-to-end pipeline on AWS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4</a:t>
            </a: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differentiated roles</a:t>
            </a: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semester</a:t>
            </a: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live demo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04D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09728" cy="228600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CAPSTONE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recipe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decisions required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dataset, single path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quality, no orchestration, no viz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8F6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109728" cy="2286000"/>
          </a:xfrm>
          <a:prstGeom prst="rect">
            <a:avLst/>
          </a:prstGeom>
          <a:solidFill>
            <a:srgbClr val="2D8F6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engineering project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 and justify decisions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roles, mirroring industry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+ quality + viz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orchestrated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1247120" cy="17373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follow a recipe — to make technical decisions and justify them.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every team should be able to defend why they chose Parquet, why they partitioned by year, and what their pipeline does when a stage fails.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path at the start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AWS Academy Capstone, expanded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without a prior project.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Around Us fisheries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 files (GLOBAL, HighSeas, EEZ)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1 fourth file of your choice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Partition, build dashboard, orchestrate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mandatory concepts apply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48640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own project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already working on a real project.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 concepts on your own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sources with different schemas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500K rows total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proposal due in week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approved → reassigned to Path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concepts every project must demonstrate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on S3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zones: raw / processed / curated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 + Athena, no data movement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optimization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partitioning, with measured benchmark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1" name="Shape 19"/>
          <p:cNvSpPr/>
          <p:nvPr/>
        </p:nvSpPr>
        <p:spPr>
          <a:xfrm>
            <a:off x="932688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9326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rules, not just df.describe()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3749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6" name="Shape 24"/>
          <p:cNvSpPr/>
          <p:nvPr/>
        </p:nvSpPr>
        <p:spPr>
          <a:xfrm>
            <a:off x="2011680" y="3977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20116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4320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01168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end-to-end without manual steps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1" name="Shape 29"/>
          <p:cNvSpPr/>
          <p:nvPr/>
        </p:nvSpPr>
        <p:spPr>
          <a:xfrm>
            <a:off x="4937760" y="39776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66928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3776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QuickSight dashboard answering business questions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37490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6" name="Shape 34"/>
          <p:cNvSpPr/>
          <p:nvPr/>
        </p:nvSpPr>
        <p:spPr>
          <a:xfrm>
            <a:off x="7863840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7" name="Text 35"/>
          <p:cNvSpPr/>
          <p:nvPr/>
        </p:nvSpPr>
        <p:spPr>
          <a:xfrm>
            <a:off x="78638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59536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6384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LabRole, no exposed credentials, restricted buckets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1" name="Text 3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team must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20240" cy="14630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S3 raw zone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880360" y="1828800"/>
            <a:ext cx="1920240" cy="146304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288036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Parquet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1920240" cy="1463040"/>
          </a:xfrm>
          <a:prstGeom prst="rect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7360920" y="1828800"/>
            <a:ext cx="1920240" cy="14630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73609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benchmark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9601200" y="1828800"/>
            <a:ext cx="1920240" cy="146304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96012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solidFill>
            <a:srgbClr val="F2A65A">
              <a:alpha val="7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·  Step Functions / Glue Workflow / bash master script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solidFill>
            <a:srgbClr val="2D8F6F">
              <a:alpha val="7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·  8+ rules with business justification, executable report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LabRole, no exposed credentials, restricted bucket policies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layers apply across all stages of the pipeline.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Text 30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team, one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4592" cy="21945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pipeline: ingestion, transformation, schema alignment, Glue catalog.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164592" cy="21945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Shape 12"/>
          <p:cNvSpPr/>
          <p:nvPr/>
        </p:nvSpPr>
        <p:spPr>
          <a:xfrm>
            <a:off x="667512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66751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80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2240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Engineer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trust in the data: profiling, 8+ rules, executable quality report.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64592" cy="21945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Shape 19"/>
          <p:cNvSpPr/>
          <p:nvPr/>
        </p:nvSpPr>
        <p:spPr>
          <a:xfrm>
            <a:off x="914400" y="443484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9202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4709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4400" y="5394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insight: partitioning, Athena views, benchmark, QuickSight dashboard.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7" name="Shape 25"/>
          <p:cNvSpPr/>
          <p:nvPr/>
        </p:nvSpPr>
        <p:spPr>
          <a:xfrm>
            <a:off x="6217920" y="4023360"/>
            <a:ext cx="164592" cy="219456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6675120" y="44348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667512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6809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4709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Ops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675120" y="5394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reproducibility: workflow automation, security, demo coordination.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4" name="Text 32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 data into S3 raw zone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CSV → Parquet with aligned schemas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Glue Crawler + Data Catalog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schema evolution between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design 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transformation scripts or notebooks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pipeline/README.md with flow + decisions + repro steps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(draw.io, Mermaid, Lucidchart…)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937760"/>
            <a:ext cx="50292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67665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capstone, fish_name → common_name and country → fishing_entity. Schema evolution is the real lesson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Engineer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dataset: volume, types, distributions, nulls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implement at least 8 DQ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ONE: Glue Data Quality, Great Expectations, Pandera, or pandas asserts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executable report with pass/fail per rule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5394960" cy="14173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real DQ rule, not just isnull()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 DQ-04: Temporal validity
</a:t>
            </a:r>
            <a:r>
              <a:rPr lang="en-US" sz="10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df['year'].between(1950, 2018).all(), \
    f"Out of range: {df[~df['year'].between(1950, 2018)]}"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data_quality/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code (chosen tool)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rules.md: the 8+ rules with business justification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 or .pdf with executed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572000"/>
            <a:ext cx="5029200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67665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CATEGORIES TO COVER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4983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· Uniqueness · Range validity · Referential integrity · Format · Consistency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justify partitioning strategy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non-trivial Athena 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benchmark: 3 queries, before vs after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QuickSight dashboard with 4+ visualizations telling a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format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80560"/>
          <a:ext cx="5394960" cy="960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total/yr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total/yr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Parquet+part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analytics/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368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.sql files for each view and query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benchmark.md with comparison table + analysis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dashboard.pdf with QuickSight screenshots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4572000"/>
            <a:ext cx="5029200" cy="1371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3"/>
          <p:cNvSpPr/>
          <p:nvPr/>
        </p:nvSpPr>
        <p:spPr>
          <a:xfrm>
            <a:off x="67665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BENCHMARK MATTERS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4983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measured numbers, "optimization" is just a buzzword. Numbers make the lesson stick.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Operations Engineer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the full pipeline reproducibly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error handling per stage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document access control (IAM, bucket policies)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final live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orchestration options (in order of preference)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5262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Invoking Glue Jobs and Crawlers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029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Workflows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Native to Glue ecosystem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5321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77724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bash script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run_pipeline.sh via AWS CLI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orchestration/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 (JSON, Glue, or bash)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architecture.png with full diagram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documenting access decisions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572000"/>
            <a:ext cx="5029200" cy="1371600"/>
          </a:xfrm>
          <a:prstGeom prst="rect">
            <a:avLst/>
          </a:prstGeom>
          <a:solidFill>
            <a:srgbClr val="C0504D">
              <a:alpha val="8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67665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PLAN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4983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+ PySpark backup demo. If the lab fails on presentation day, you still ship.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data-eng-project-teamXX/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Overview, members, roles, how to 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34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architecture.png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26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proposal.md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B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technical_decisions.md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Short ADRs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pipeline/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04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data_quality/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970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analytics/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orchestration/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82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data_samples/</a:t>
            </a:r>
            <a:r>
              <a:rPr lang="en-US" sz="1100" i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Small only — never full 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presentation/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slides.pdf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05740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Shape 19"/>
          <p:cNvSpPr/>
          <p:nvPr/>
        </p:nvSpPr>
        <p:spPr>
          <a:xfrm>
            <a:off x="6492240" y="2057400"/>
            <a:ext cx="9144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667512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commits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commits throughout the semester. Single-author repos lose individual points for the others.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10896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9144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credentials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keys, no .aws/credentials. Use .gitignore. Penalty: -30 to the team + immediate revocation.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16052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9" name="Shape 27"/>
          <p:cNvSpPr/>
          <p:nvPr/>
        </p:nvSpPr>
        <p:spPr>
          <a:xfrm>
            <a:off x="6492240" y="4160520"/>
            <a:ext cx="9144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0" name="Text 28"/>
          <p:cNvSpPr/>
          <p:nvPr/>
        </p:nvSpPr>
        <p:spPr>
          <a:xfrm>
            <a:off x="667512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full datasets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small samples in data_samples/. Penalty: -10 to the team.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521208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3" name="Shape 31"/>
          <p:cNvSpPr/>
          <p:nvPr/>
        </p:nvSpPr>
        <p:spPr>
          <a:xfrm>
            <a:off x="6492240" y="5212080"/>
            <a:ext cx="9144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32"/>
          <p:cNvSpPr/>
          <p:nvPr/>
        </p:nvSpPr>
        <p:spPr>
          <a:xfrm>
            <a:off x="6675120" y="5303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must be self-contained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5623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outsider should understand the project in under 2 minutes.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7" name="Text 35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3429000"/>
            <a:ext cx="96012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9144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9144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formation, role assignment, Path B proposal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80160" y="2926080"/>
            <a:ext cx="0" cy="173736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Shape 10"/>
          <p:cNvSpPr/>
          <p:nvPr/>
        </p:nvSpPr>
        <p:spPr>
          <a:xfrm>
            <a:off x="25146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25146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03120" y="4023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21031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4434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created, dataset in S3, first crawler 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0" y="3831336"/>
            <a:ext cx="0" cy="192024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Shape 16"/>
          <p:cNvSpPr/>
          <p:nvPr/>
        </p:nvSpPr>
        <p:spPr>
          <a:xfrm>
            <a:off x="41148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41148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703320" y="1737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37033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pipeline complete, first DQ rules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926080"/>
            <a:ext cx="0" cy="173736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Shape 22"/>
          <p:cNvSpPr/>
          <p:nvPr/>
        </p:nvSpPr>
        <p:spPr>
          <a:xfrm>
            <a:off x="57150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Text 23"/>
          <p:cNvSpPr/>
          <p:nvPr/>
        </p:nvSpPr>
        <p:spPr>
          <a:xfrm>
            <a:off x="57150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303520" y="4023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53035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434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Partitioning, Athena views, initial benchmark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831336"/>
            <a:ext cx="0" cy="192024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Shape 28"/>
          <p:cNvSpPr/>
          <p:nvPr/>
        </p:nvSpPr>
        <p:spPr>
          <a:xfrm>
            <a:off x="73152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1" name="Text 29"/>
          <p:cNvSpPr/>
          <p:nvPr/>
        </p:nvSpPr>
        <p:spPr>
          <a:xfrm>
            <a:off x="73152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903720" y="1737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69037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QuickSight dashboard, orchestration working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2926080"/>
            <a:ext cx="0" cy="173736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36" name="Shape 34"/>
          <p:cNvSpPr/>
          <p:nvPr/>
        </p:nvSpPr>
        <p:spPr>
          <a:xfrm>
            <a:off x="8915400" y="3099816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7" name="Text 35"/>
          <p:cNvSpPr/>
          <p:nvPr/>
        </p:nvSpPr>
        <p:spPr>
          <a:xfrm>
            <a:off x="89154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8503920" y="4023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85039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49640" y="4434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based on feedback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281160" y="3831336"/>
            <a:ext cx="0" cy="192024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42" name="Shape 40"/>
          <p:cNvSpPr/>
          <p:nvPr/>
        </p:nvSpPr>
        <p:spPr>
          <a:xfrm>
            <a:off x="10515600" y="3099816"/>
            <a:ext cx="731520" cy="731520"/>
          </a:xfrm>
          <a:prstGeom prst="ellipse">
            <a:avLst/>
          </a:prstGeom>
          <a:solidFill>
            <a:srgbClr val="F2A6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3" name="Text 41"/>
          <p:cNvSpPr/>
          <p:nvPr/>
        </p:nvSpPr>
        <p:spPr>
          <a:xfrm>
            <a:off x="10515600" y="3099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0104120" y="17373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5" name="Text 43"/>
          <p:cNvSpPr/>
          <p:nvPr/>
        </p:nvSpPr>
        <p:spPr>
          <a:xfrm>
            <a:off x="101041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14984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in class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881360" y="2926080"/>
            <a:ext cx="0" cy="173736"/>
          </a:xfrm>
          <a:prstGeom prst="line">
            <a:avLst/>
          </a:prstGeom>
          <a:noFill/>
          <a:ln w="12700">
            <a:solidFill>
              <a:srgbClr val="F2A65A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48" name="Shape 46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9" name="Text 4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will hold 15-min team check-ins in weeks 2 and 4 to catch blockers early.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1" name="Text 4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83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100 points break down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4688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Concept coverage · Repo · Presentation · Documentation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577840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BY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· Technical depth · Q&amp;A defense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TO AVOID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credentials in repo (+ revocation)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411480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4343400" y="4114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identifiable commits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411480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8138160" y="4114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3544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doesn't present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548640" y="51206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5120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committed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5120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4343400" y="51206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−10/d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5120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 (max 3 days)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5120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Text 28"/>
          <p:cNvSpPr/>
          <p:nvPr/>
        </p:nvSpPr>
        <p:spPr>
          <a:xfrm>
            <a:off x="8138160" y="51206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35440" y="5120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with no week-1 proposal → Path 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Data Engineering  ·  Final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2743200"/>
            <a:ext cx="8229600" cy="8229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291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your team of 4 and pick roles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Path A or Path B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Path B, draft and submit your 1-page proposal in week 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GitHub repo with the required structure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Bring them to class or post in the course channel.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1485</Words>
  <Application>Microsoft Macintosh PowerPoint</Application>
  <PresentationFormat>Panorámica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— Expanded Data Engineering Capstone</dc:title>
  <dc:subject>PptxGenJS Presentation</dc:subject>
  <dc:creator>AWS Academy Data Engineering</dc:creator>
  <cp:lastModifiedBy>Carrillo Agustin Villarreal (Contractor)</cp:lastModifiedBy>
  <cp:revision>1</cp:revision>
  <dcterms:created xsi:type="dcterms:W3CDTF">2026-04-14T01:12:10Z</dcterms:created>
  <dcterms:modified xsi:type="dcterms:W3CDTF">2026-04-14T03:04:03Z</dcterms:modified>
</cp:coreProperties>
</file>